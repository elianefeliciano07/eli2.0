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41080" y="822960"/>
            <a:ext cx="2011680" cy="2011680"/>
          </a:xfrm>
          <a:prstGeom prst="ellipse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09760" y="1691640"/>
            <a:ext cx="1143000" cy="1143000"/>
          </a:xfrm>
          <a:prstGeom prst="ellipse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80" y="3794760"/>
            <a:ext cx="2560320" cy="1371600"/>
          </a:xfrm>
          <a:prstGeom prst="roundRect">
            <a:avLst/>
          </a:prstGeom>
          <a:solidFill>
            <a:srgbClr val="1F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52560" y="3154680"/>
            <a:ext cx="13258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281160" y="3611880"/>
            <a:ext cx="164592" cy="64008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82912" y="3611880"/>
            <a:ext cx="530352" cy="64008"/>
          </a:xfrm>
          <a:prstGeom prst="rect">
            <a:avLst/>
          </a:prstGeom>
          <a:solidFill>
            <a:srgbClr val="D5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281160" y="3977639"/>
            <a:ext cx="164592" cy="64008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82912" y="3977639"/>
            <a:ext cx="530352" cy="64008"/>
          </a:xfrm>
          <a:prstGeom prst="rect">
            <a:avLst/>
          </a:prstGeom>
          <a:solidFill>
            <a:srgbClr val="D5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281160" y="4343400"/>
            <a:ext cx="164592" cy="64008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582912" y="4343400"/>
            <a:ext cx="530352" cy="64008"/>
          </a:xfrm>
          <a:prstGeom prst="rect">
            <a:avLst/>
          </a:prstGeom>
          <a:solidFill>
            <a:srgbClr val="D5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81160" y="4709160"/>
            <a:ext cx="164592" cy="64008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582912" y="4709160"/>
            <a:ext cx="530352" cy="64008"/>
          </a:xfrm>
          <a:prstGeom prst="rect">
            <a:avLst/>
          </a:prstGeom>
          <a:solidFill>
            <a:srgbClr val="D5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1024128"/>
            <a:ext cx="713232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45ABCA"/>
                </a:solidFill>
                <a:latin typeface="Aptos"/>
              </a:rPr>
              <a:t>TEMA DO TRABALHO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691640"/>
            <a:ext cx="7040880" cy="12344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Sistema de Gestão
de Notas Escolares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46120"/>
            <a:ext cx="6858000" cy="12344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E1EAF3"/>
                </a:solidFill>
                <a:latin typeface="Aptos"/>
              </a:rPr>
              <a:t>Desenvolvimento de um sistema informático para gestão de notas e classificações dos alunos no ensino secundário em Angola.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937760"/>
            <a:ext cx="914400" cy="54864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285232"/>
            <a:ext cx="69494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t>Nome: Carlota Feliciano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715000"/>
            <a:ext cx="694944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t>Turma: CTI   Professor: Marcial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78992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62B4A"/>
                </a:solidFill>
                <a:latin typeface="Aptos"/>
              </a:rPr>
              <a:t>Estudo de Caso: Gestão das classificações no ensino secundário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777240" cy="50292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77482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677482"/>
                </a:solidFill>
                <a:latin typeface="Aptos"/>
              </a:rPr>
              <a:t>O estudo considera as seguintes actividades: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4983480" cy="91440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3271" y="2587752"/>
            <a:ext cx="384048" cy="384048"/>
          </a:xfrm>
          <a:prstGeom prst="ellipse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81912" y="2532888"/>
            <a:ext cx="3977639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2B4A"/>
                </a:solidFill>
                <a:latin typeface="Aptos"/>
              </a:rPr>
              <a:t>Registo de alunos, turmas e disciplinas.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4983480" cy="91440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19672" y="2587752"/>
            <a:ext cx="384048" cy="384048"/>
          </a:xfrm>
          <a:prstGeom prst="ellipse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68312" y="2532888"/>
            <a:ext cx="3977639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2B4A"/>
                </a:solidFill>
                <a:latin typeface="Aptos"/>
              </a:rPr>
              <a:t>Introdução e consulta de notas.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566160"/>
            <a:ext cx="4983480" cy="91440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33271" y="3822191"/>
            <a:ext cx="384048" cy="384048"/>
          </a:xfrm>
          <a:prstGeom prst="ellipse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81912" y="3767328"/>
            <a:ext cx="3977639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2B4A"/>
                </a:solidFill>
                <a:latin typeface="Aptos"/>
              </a:rPr>
              <a:t>Cálculo das classificações conforme as regras aplicáveis.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566160"/>
            <a:ext cx="4983480" cy="91440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19672" y="3822191"/>
            <a:ext cx="384048" cy="384048"/>
          </a:xfrm>
          <a:prstGeom prst="ellipse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68312" y="3767328"/>
            <a:ext cx="3977639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2B4A"/>
                </a:solidFill>
                <a:latin typeface="Aptos"/>
              </a:rPr>
              <a:t>Emissão de pautas e relatórios escolares.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074920"/>
            <a:ext cx="10469880" cy="713232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285232"/>
            <a:ext cx="996696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Foco: organização, rapidez, exactidão e acesso controlado dos dados.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78992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62B4A"/>
                </a:solidFill>
                <a:latin typeface="Aptos"/>
              </a:rPr>
              <a:t>Problema de pesquisa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777240" cy="50292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77482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560320" cy="3246120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20116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45ABCA"/>
                </a:solidFill>
                <a:latin typeface="Aptos"/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011680" cy="1554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Gestão manual
das notas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057400"/>
            <a:ext cx="7040880" cy="10972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2C3948"/>
                </a:solidFill>
                <a:latin typeface="Aptos"/>
              </a:rPr>
              <a:t>A gestão manual das notas pode criar dificuldades na organização e no tratamento das classificações.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3429000"/>
            <a:ext cx="777240" cy="50292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7639" y="3767328"/>
            <a:ext cx="6949440" cy="10515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62B4A"/>
                </a:solidFill>
                <a:latin typeface="Aptos"/>
              </a:rPr>
              <a:t>É importante estudar uma solução tecnológica que torne o processo mais rápido, organizado e fiável.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78992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62B4A"/>
                </a:solidFill>
                <a:latin typeface="Aptos"/>
              </a:rPr>
              <a:t>Pergunta de pesquisa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777240" cy="50292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77482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224028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121408"/>
            <a:ext cx="969264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A69AB"/>
                </a:solidFill>
                <a:latin typeface="Aptos"/>
              </a:rPr>
              <a:t>PERGUNTA DE PESQUISA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9646920" cy="11430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62B4A"/>
                </a:solidFill>
                <a:latin typeface="Aptos"/>
              </a:rPr>
              <a:t>De que forma o desenvolvimento de um sistema informático pode melhorar a gestão de notas e classificações dos alunos no ensino secundário em Angola?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98755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C3948"/>
                </a:solidFill>
                <a:latin typeface="Aptos"/>
              </a:rPr>
              <a:t>Organizar, calcular, consultar e emitir pautas.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78992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62B4A"/>
                </a:solidFill>
                <a:latin typeface="Aptos"/>
              </a:rPr>
              <a:t>Objectivos do Trabalho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777240" cy="50292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77482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9260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45ABCA"/>
                </a:solidFill>
                <a:latin typeface="Aptos"/>
              </a:rPr>
              <a:t>OBJECTIVO GERAL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10469880" cy="105156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987552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2B4A"/>
                </a:solidFill>
                <a:latin typeface="Aptos"/>
              </a:rPr>
              <a:t>Estudar o desenvolvimento de um sistema informático para melhorar a gestão de notas e classificações dos alunos no ensino secundário.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40233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45ABCA"/>
                </a:solidFill>
                <a:latin typeface="Aptos"/>
              </a:rPr>
              <a:t>OBJECTIVOS ESPECÍFICOS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959352"/>
            <a:ext cx="118872" cy="118872"/>
          </a:xfrm>
          <a:prstGeom prst="ellipse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966959" cy="4571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C3948"/>
                </a:solidFill>
                <a:latin typeface="Aptos"/>
              </a:rPr>
              <a:t>Facilitar o registo das notas dos alunos.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489704"/>
            <a:ext cx="118872" cy="118872"/>
          </a:xfrm>
          <a:prstGeom prst="ellipse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16552"/>
            <a:ext cx="9966959" cy="4571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C3948"/>
                </a:solidFill>
                <a:latin typeface="Aptos"/>
              </a:rPr>
              <a:t>Automatizar o cálculo das médias, de acordo com as regras de avaliação aplicáveis.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020056"/>
            <a:ext cx="118872" cy="118872"/>
          </a:xfrm>
          <a:prstGeom prst="ellipse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946904"/>
            <a:ext cx="9966959" cy="4571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C3948"/>
                </a:solidFill>
                <a:latin typeface="Aptos"/>
              </a:rPr>
              <a:t>Melhorar a organização e o armazenamento de dados.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550408"/>
            <a:ext cx="118872" cy="118872"/>
          </a:xfrm>
          <a:prstGeom prst="ellipse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5477256"/>
            <a:ext cx="9966959" cy="4571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C3948"/>
                </a:solidFill>
                <a:latin typeface="Aptos"/>
              </a:rPr>
              <a:t>Reduzir erros associados aos cálculos e aos registos.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62B4A"/>
                </a:solidFill>
                <a:latin typeface="Aptos"/>
              </a:rPr>
              <a:t>Estudo Comparativo das Linguagens de Programação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51560"/>
            <a:ext cx="731520" cy="45720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482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 i="0">
                <a:solidFill>
                  <a:srgbClr val="677482"/>
                </a:solidFill>
                <a:latin typeface="Aptos"/>
              </a:rPr>
              <a:t>Tipos de utilização e principais diferenças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1508760" cy="438912"/>
          </a:xfrm>
          <a:prstGeom prst="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847088"/>
            <a:ext cx="1362456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Linguagem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7128" y="1755648"/>
            <a:ext cx="2468880" cy="438912"/>
          </a:xfrm>
          <a:prstGeom prst="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0280" y="1847088"/>
            <a:ext cx="2322576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Tipo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755648"/>
            <a:ext cx="3794760" cy="438912"/>
          </a:xfrm>
          <a:prstGeom prst="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59" y="1847088"/>
            <a:ext cx="3648456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Utilização principal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30768" y="1755648"/>
            <a:ext cx="3063240" cy="438912"/>
          </a:xfrm>
          <a:prstGeom prst="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847088"/>
            <a:ext cx="2916936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Diferença / característica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194560"/>
            <a:ext cx="1508760" cy="612648"/>
          </a:xfrm>
          <a:prstGeom prst="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2258568"/>
            <a:ext cx="1380743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1" i="0">
                <a:solidFill>
                  <a:srgbClr val="162B4A"/>
                </a:solidFill>
                <a:latin typeface="Aptos"/>
              </a:rPr>
              <a:t>Java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7128" y="2194560"/>
            <a:ext cx="2468880" cy="612648"/>
          </a:xfrm>
          <a:prstGeom prst="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31136" y="2258568"/>
            <a:ext cx="234086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Compilada para bytecode / JVM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6007" y="2194560"/>
            <a:ext cx="3794760" cy="612648"/>
          </a:xfrm>
          <a:prstGeom prst="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0016" y="2258568"/>
            <a:ext cx="366674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Aplicações empresariais, sistemas e aplicações Android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30768" y="2194560"/>
            <a:ext cx="3063240" cy="612648"/>
          </a:xfrm>
          <a:prstGeom prst="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94776" y="2258568"/>
            <a:ext cx="293522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Tipagem estática; executa na JVM.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807208"/>
            <a:ext cx="15087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2871215"/>
            <a:ext cx="1380743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1" i="0">
                <a:solidFill>
                  <a:srgbClr val="162B4A"/>
                </a:solidFill>
                <a:latin typeface="Aptos"/>
              </a:rPr>
              <a:t>Python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7128" y="2807208"/>
            <a:ext cx="246888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31136" y="2871215"/>
            <a:ext cx="234086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Interpretada (implementação comum)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36007" y="2807208"/>
            <a:ext cx="37947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0016" y="2871215"/>
            <a:ext cx="366674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Automação, análise de dados, web e inteligência artificial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30768" y="2807208"/>
            <a:ext cx="306324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94776" y="2871215"/>
            <a:ext cx="293522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Sintaxe simples e legível.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419856"/>
            <a:ext cx="1508760" cy="612648"/>
          </a:xfrm>
          <a:prstGeom prst="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6" y="3483864"/>
            <a:ext cx="1380743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1" i="0">
                <a:solidFill>
                  <a:srgbClr val="162B4A"/>
                </a:solidFill>
                <a:latin typeface="Aptos"/>
              </a:rPr>
              <a:t>CSS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7128" y="3419856"/>
            <a:ext cx="2468880" cy="612648"/>
          </a:xfrm>
          <a:prstGeom prst="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31136" y="3483864"/>
            <a:ext cx="234086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Folha de estilos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36007" y="3419856"/>
            <a:ext cx="3794760" cy="612648"/>
          </a:xfrm>
          <a:prstGeom prst="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00016" y="3483864"/>
            <a:ext cx="366674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Aparência de páginas web: cores, fontes e disposição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30768" y="3419856"/>
            <a:ext cx="3063240" cy="612648"/>
          </a:xfrm>
          <a:prstGeom prst="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94776" y="3483864"/>
            <a:ext cx="293522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Não é linguagem de programação; define apresentação visual.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032504"/>
            <a:ext cx="15087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2376" y="4096512"/>
            <a:ext cx="1380743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1" i="0">
                <a:solidFill>
                  <a:srgbClr val="162B4A"/>
                </a:solidFill>
                <a:latin typeface="Aptos"/>
              </a:rPr>
              <a:t>C++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67128" y="4032504"/>
            <a:ext cx="246888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31136" y="4096512"/>
            <a:ext cx="234086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Compilada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36007" y="4032504"/>
            <a:ext cx="37947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00016" y="4096512"/>
            <a:ext cx="366674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Software de alto desempenho, jogos e sistemas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30768" y="4032504"/>
            <a:ext cx="306324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94776" y="4096512"/>
            <a:ext cx="293522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Controlo de baixo nível e desempenho.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645152"/>
            <a:ext cx="1508760" cy="612648"/>
          </a:xfrm>
          <a:prstGeom prst="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2376" y="4709160"/>
            <a:ext cx="1380743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1" i="0">
                <a:solidFill>
                  <a:srgbClr val="162B4A"/>
                </a:solidFill>
                <a:latin typeface="Aptos"/>
              </a:rPr>
              <a:t>PHP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67128" y="4645152"/>
            <a:ext cx="2468880" cy="612648"/>
          </a:xfrm>
          <a:prstGeom prst="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31136" y="4709160"/>
            <a:ext cx="234086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Linguagem de servidor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36007" y="4645152"/>
            <a:ext cx="3794760" cy="612648"/>
          </a:xfrm>
          <a:prstGeom prst="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00016" y="4709160"/>
            <a:ext cx="366674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Aplicações web dinâmicas e integração com bases de dados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30768" y="4645152"/>
            <a:ext cx="3063240" cy="612648"/>
          </a:xfrm>
          <a:prstGeom prst="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94776" y="4709160"/>
            <a:ext cx="293522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Especializada no desenvolvimento do lado do servidor.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5257800"/>
            <a:ext cx="15087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22376" y="5321808"/>
            <a:ext cx="1380743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1" i="0">
                <a:solidFill>
                  <a:srgbClr val="162B4A"/>
                </a:solidFill>
                <a:latin typeface="Aptos"/>
              </a:rPr>
              <a:t>JavaScript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67128" y="5257800"/>
            <a:ext cx="246888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31136" y="5321808"/>
            <a:ext cx="234086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Executada no navegador e também no servidor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36007" y="5257800"/>
            <a:ext cx="37947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00016" y="5321808"/>
            <a:ext cx="366674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Interactividade em páginas web e aplicações web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30768" y="5257800"/>
            <a:ext cx="306324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94776" y="5321808"/>
            <a:ext cx="2935224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2C3948"/>
                </a:solidFill>
                <a:latin typeface="Aptos"/>
              </a:rPr>
              <a:t>Permite comportamento dinâmico nas páginas.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1">
                <a:solidFill>
                  <a:srgbClr val="677482"/>
                </a:solidFill>
                <a:latin typeface="Aptos"/>
              </a:rPr>
              <a:t>Nota: CSS é uma linguagem de folhas de estilo, não uma linguagem de programação.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62B4A"/>
                </a:solidFill>
                <a:latin typeface="Aptos"/>
              </a:rPr>
              <a:t>Tecnologias Propostas e Justificação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51560"/>
            <a:ext cx="731520" cy="45720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482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 i="0">
                <a:solidFill>
                  <a:srgbClr val="677482"/>
                </a:solidFill>
                <a:latin typeface="Aptos"/>
              </a:rPr>
              <a:t>Linguagens seleccionadas para o desenvolvimento do sistema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3520440" cy="274320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874519"/>
            <a:ext cx="3520440" cy="109728"/>
          </a:xfrm>
          <a:prstGeom prst="rect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148840"/>
            <a:ext cx="31089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62B4A"/>
                </a:solidFill>
                <a:latin typeface="Aptos"/>
              </a:rPr>
              <a:t>PHP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51760"/>
            <a:ext cx="3108960" cy="7315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C3948"/>
                </a:solidFill>
                <a:latin typeface="Aptos"/>
              </a:rPr>
              <a:t>Utilização: Desenvolvimento da aplicação web e processamento no servidor.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20440"/>
            <a:ext cx="3108960" cy="10241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0" i="0">
                <a:solidFill>
                  <a:srgbClr val="677482"/>
                </a:solidFill>
                <a:latin typeface="Aptos"/>
              </a:rPr>
              <a:t>Justificação: Escolhido como proposta por facilitar a criação de páginas dinâmicas e a comunicação com a base de dados.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1874519"/>
            <a:ext cx="3520440" cy="274320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35424" y="1874519"/>
            <a:ext cx="3520440" cy="109728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18304" y="2148840"/>
            <a:ext cx="31089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62B4A"/>
                </a:solidFill>
                <a:latin typeface="Aptos"/>
              </a:rPr>
              <a:t>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651760"/>
            <a:ext cx="3108960" cy="7315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C3948"/>
                </a:solidFill>
                <a:latin typeface="Aptos"/>
              </a:rPr>
              <a:t>Utilização: Interactividade e validação de dados nas páginas.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3520440"/>
            <a:ext cx="3108960" cy="10241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0" i="0">
                <a:solidFill>
                  <a:srgbClr val="677482"/>
                </a:solidFill>
                <a:latin typeface="Aptos"/>
              </a:rPr>
              <a:t>Justificação: Escolhido como proposta para tornar os formulários mais interactivos e melhorar a experiência de utilização.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1874519"/>
            <a:ext cx="3520440" cy="274320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57615" y="1874519"/>
            <a:ext cx="3520440" cy="109728"/>
          </a:xfrm>
          <a:prstGeom prst="rect">
            <a:avLst/>
          </a:prstGeom>
          <a:solidFill>
            <a:srgbClr val="2B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0495" y="2148840"/>
            <a:ext cx="31089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62B4A"/>
                </a:solidFill>
                <a:latin typeface="Aptos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5" y="2651760"/>
            <a:ext cx="3108960" cy="7315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C3948"/>
                </a:solidFill>
                <a:latin typeface="Aptos"/>
              </a:rPr>
              <a:t>Utilização: Cálculos, regras de classificação ou processamento complementar, se necessário.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5" y="3520440"/>
            <a:ext cx="3108960" cy="10241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0" i="0">
                <a:solidFill>
                  <a:srgbClr val="677482"/>
                </a:solidFill>
                <a:latin typeface="Aptos"/>
              </a:rPr>
              <a:t>Justificação: Considerado pela legibilidade e facilidade de implementar lógica; pode ser opcional se PHP tratar todos os cálculos.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29200"/>
            <a:ext cx="10561320" cy="713232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230368"/>
            <a:ext cx="1010412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Aptos"/>
              </a:rPr>
              <a:t>Proposta base: PHP + JavaScript + HTML/CSS; a base de dados deve ser definida conforme os requisitos.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43600"/>
            <a:ext cx="102412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677482"/>
                </a:solidFill>
                <a:latin typeface="Aptos"/>
              </a:rPr>
              <a:t>A selecção final deve ser confirmada com o professor e com os requisitos do projecto.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62B4A"/>
                </a:solidFill>
                <a:latin typeface="Aptos"/>
              </a:rPr>
              <a:t>Tecnologias Propostas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51560"/>
            <a:ext cx="731520" cy="45720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482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45ABCA"/>
                </a:solidFill>
                <a:latin typeface="Aptos"/>
              </a:rPr>
              <a:t>Funcionalidades principais do sistema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074920" cy="118872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82296" cy="1188720"/>
          </a:xfrm>
          <a:prstGeom prst="rect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45262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62B4A"/>
                </a:solidFill>
                <a:latin typeface="Aptos"/>
              </a:rPr>
              <a:t>Registo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04872"/>
            <a:ext cx="45262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C3948"/>
                </a:solidFill>
                <a:latin typeface="Aptos"/>
              </a:rPr>
              <a:t>Alunos, turmas e disciplinas.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5074920" cy="118872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82296" cy="1188720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039112"/>
            <a:ext cx="45262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62B4A"/>
                </a:solidFill>
                <a:latin typeface="Aptos"/>
              </a:rPr>
              <a:t>Notas e médias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04872"/>
            <a:ext cx="45262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C3948"/>
                </a:solidFill>
                <a:latin typeface="Aptos"/>
              </a:rPr>
              <a:t>Introdução das notas e cálculo das médias segundo as regras aplicáveis.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79"/>
            <a:ext cx="5074920" cy="118872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383279"/>
            <a:ext cx="82296" cy="1188720"/>
          </a:xfrm>
          <a:prstGeom prst="rect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547872"/>
            <a:ext cx="45262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62B4A"/>
                </a:solidFill>
                <a:latin typeface="Aptos"/>
              </a:rPr>
              <a:t>Pautas e relatórios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13631"/>
            <a:ext cx="45262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C3948"/>
                </a:solidFill>
                <a:latin typeface="Aptos"/>
              </a:rPr>
              <a:t>Emissão de pautas, cópias de segurança e relatórios.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79"/>
            <a:ext cx="5074920" cy="118872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383279"/>
            <a:ext cx="82296" cy="1188720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547872"/>
            <a:ext cx="45262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62B4A"/>
                </a:solidFill>
                <a:latin typeface="Aptos"/>
              </a:rPr>
              <a:t>Acesso controlado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13631"/>
            <a:ext cx="45262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C3948"/>
                </a:solidFill>
                <a:latin typeface="Aptos"/>
              </a:rPr>
              <a:t>Cada utilizador acede apenas às funções autorizadas.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77482"/>
                </a:solidFill>
                <a:latin typeface="Aptos"/>
              </a:rPr>
              <a:t>Linguagens propostas: PHP e JavaScript, com HTML/CSS para a interface; Python pode ser utilizado se o projecto exigir processamento complementar.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78992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62B4A"/>
                </a:solidFill>
                <a:latin typeface="Aptos"/>
              </a:rPr>
              <a:t>Como o sistema funciona?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777240" cy="50292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77482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10332720" cy="201168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34440" y="2423160"/>
            <a:ext cx="777240" cy="777240"/>
          </a:xfrm>
          <a:prstGeom prst="ellipse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7772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286000"/>
            <a:ext cx="8138160" cy="10515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62B4A"/>
                </a:solidFill>
                <a:latin typeface="Aptos"/>
              </a:rPr>
              <a:t>O sistema deverá permitir que cada utilizador aceda apenas às funções autorizadas.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63440"/>
            <a:ext cx="987552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677482"/>
                </a:solidFill>
                <a:latin typeface="Aptos"/>
              </a:rPr>
              <a:t>Acesso controlado às funções autorizadas.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78992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62B4A"/>
                </a:solidFill>
                <a:latin typeface="Aptos"/>
              </a:rPr>
              <a:t>Resultados Esperados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777240" cy="50292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77482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32720" cy="237744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2331720"/>
            <a:ext cx="9464040" cy="1325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62B4A"/>
                </a:solidFill>
                <a:latin typeface="Aptos"/>
              </a:rPr>
              <a:t>Espera-se que a solução proposta facilite o trabalho administrativo e o acompanhamento do desempenho escolar.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3657600"/>
            <a:ext cx="822960" cy="50292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892040"/>
            <a:ext cx="996696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677482"/>
                </a:solidFill>
                <a:latin typeface="Aptos"/>
              </a:rPr>
              <a:t>Organização, rapidez e melhor acompanhamento das classificações.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78992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62B4A"/>
                </a:solidFill>
                <a:latin typeface="Aptos"/>
              </a:rPr>
              <a:t>Referências bibliográficas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777240" cy="50292"/>
          </a:xfrm>
          <a:prstGeom prst="rect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 i="0">
                <a:solidFill>
                  <a:srgbClr val="677482"/>
                </a:solidFill>
                <a:latin typeface="Aptos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636776"/>
            <a:ext cx="274320" cy="274320"/>
          </a:xfrm>
          <a:prstGeom prst="ellipse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600200"/>
            <a:ext cx="242316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2B4A"/>
                </a:solidFill>
                <a:latin typeface="Aptos"/>
              </a:rPr>
              <a:t>PYTHON SOFTWARE FOUNDATION.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600200"/>
            <a:ext cx="28346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948"/>
                </a:solidFill>
                <a:latin typeface="Aptos"/>
              </a:rPr>
              <a:t>Python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663440" cy="4754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A69AB"/>
                </a:solidFill>
                <a:latin typeface="Aptos"/>
              </a:rPr>
              <a:t>https://docs.python.org/3/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50008"/>
            <a:ext cx="274320" cy="274320"/>
          </a:xfrm>
          <a:prstGeom prst="ellipse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2313432"/>
            <a:ext cx="242316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2B4A"/>
                </a:solidFill>
                <a:latin typeface="Aptos"/>
              </a:rPr>
              <a:t>THE PHP GROUP.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313432"/>
            <a:ext cx="28346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948"/>
                </a:solidFill>
                <a:latin typeface="Aptos"/>
              </a:rPr>
              <a:t>PHP 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13432"/>
            <a:ext cx="4663440" cy="4754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A69AB"/>
                </a:solidFill>
                <a:latin typeface="Aptos"/>
              </a:rPr>
              <a:t>https://www.php.net/manual/en/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3026664"/>
            <a:ext cx="242316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2B4A"/>
                </a:solidFill>
                <a:latin typeface="Aptos"/>
              </a:rPr>
              <a:t>MDN WEB DOCS.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026664"/>
            <a:ext cx="28346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948"/>
                </a:solidFill>
                <a:latin typeface="Aptos"/>
              </a:rPr>
              <a:t>JavaScript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26664"/>
            <a:ext cx="4663440" cy="4754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A69AB"/>
                </a:solidFill>
                <a:latin typeface="Aptos"/>
              </a:rPr>
              <a:t>https://developer.mozilla.org/en-US/docs/Web/JavaScript/Guide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776472"/>
            <a:ext cx="274320" cy="274320"/>
          </a:xfrm>
          <a:prstGeom prst="ellipse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3739896"/>
            <a:ext cx="242316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2B4A"/>
                </a:solidFill>
                <a:latin typeface="Aptos"/>
              </a:rPr>
              <a:t>MICROSOFT.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739896"/>
            <a:ext cx="28346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948"/>
                </a:solidFill>
                <a:latin typeface="Aptos"/>
              </a:rPr>
              <a:t>Documentação de C#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39896"/>
            <a:ext cx="4663440" cy="4754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A69AB"/>
                </a:solidFill>
                <a:latin typeface="Aptos"/>
              </a:rPr>
              <a:t>https://learn.microsoft.com/en-us/dotnet/csharp/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489704"/>
            <a:ext cx="274320" cy="274320"/>
          </a:xfrm>
          <a:prstGeom prst="ellipse">
            <a:avLst/>
          </a:prstGeom>
          <a:solidFill>
            <a:srgbClr val="45A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25880" y="4453128"/>
            <a:ext cx="242316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2B4A"/>
                </a:solidFill>
                <a:latin typeface="Aptos"/>
              </a:rPr>
              <a:t>ORACLE.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453128"/>
            <a:ext cx="28346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948"/>
                </a:solidFill>
                <a:latin typeface="Aptos"/>
              </a:rPr>
              <a:t>Java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453128"/>
            <a:ext cx="4663440" cy="4754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A69AB"/>
                </a:solidFill>
                <a:latin typeface="Aptos"/>
              </a:rPr>
              <a:t>https://docs.oracle.com/en/java/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5202936"/>
            <a:ext cx="274320" cy="274320"/>
          </a:xfrm>
          <a:prstGeom prst="ellipse">
            <a:avLst/>
          </a:prstGeom>
          <a:solidFill>
            <a:srgbClr val="2A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25880" y="5166360"/>
            <a:ext cx="242316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2B4A"/>
                </a:solidFill>
                <a:latin typeface="Aptos"/>
              </a:rPr>
              <a:t>RUST FOUNDATION.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166360"/>
            <a:ext cx="28346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948"/>
                </a:solidFill>
                <a:latin typeface="Aptos"/>
              </a:rPr>
              <a:t>The Rust Programming 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166360"/>
            <a:ext cx="4663440" cy="4754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677482"/>
                </a:solidFill>
                <a:latin typeface="Aptos"/>
              </a:rPr>
              <a:t>Endereço não indicado no ficheiro original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Carlota Feliciano</cp:lastModifiedBy>
  <cp:revision>3</cp:revision>
  <dcterms:created xsi:type="dcterms:W3CDTF">2013-01-27T09:14:16Z</dcterms:created>
  <dcterms:modified xsi:type="dcterms:W3CDTF">2026-10-21T16:27:23Z</dcterms:modified>
  <cp:category/>
</cp:coreProperties>
</file>